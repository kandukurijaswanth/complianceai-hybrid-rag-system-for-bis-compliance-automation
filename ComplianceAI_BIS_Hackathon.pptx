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7958a6ff5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7958a6ff5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7958a6ff5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7958a6ff5_2_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e7958a6ff5_2_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7958a6ff5_2_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7958a6ff5_2_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e7958a6ff5_2_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7958a6ff5_2_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7958a6ff5_2_1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e7958a6ff5_2_1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7958a6ff5_2_1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7958a6ff5_2_1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e7958a6ff5_2_1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e7958a6ff5_2_1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7958a6ff5_2_1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e7958a6ff5_2_1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7958a6ff5_2_1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7958a6ff5_2_2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e7958a6ff5_2_2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7958a6ff5_2_2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7958a6ff5_2_2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e7958a6ff5_2_2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e7958a6ff5_2_2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7958a6ff5_2_2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e7958a6ff5_2_28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e7958a6ff5_2_28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7958a6ff5_2_3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e7958a6ff5_2_3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e7958a6ff5_2_3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7958a6ff5_2_3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e7958a6ff5_2_3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e7958a6ff5_2_3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15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5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5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5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5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5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5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5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5"/>
          <p:cNvCxnSpPr/>
          <p:nvPr/>
        </p:nvCxnSpPr>
        <p:spPr>
          <a:xfrm>
            <a:off x="0" y="5486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5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563EB">
              <a:alpha val="12156"/>
            </a:srgbClr>
          </a:solidFill>
          <a:ln cap="flat" cmpd="sng" w="12700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5943600" y="2743200"/>
            <a:ext cx="3657600" cy="3657600"/>
          </a:xfrm>
          <a:prstGeom prst="ellipse">
            <a:avLst/>
          </a:prstGeom>
          <a:solidFill>
            <a:srgbClr val="7C3AED">
              <a:alpha val="10196"/>
            </a:srgbClr>
          </a:solidFill>
          <a:ln cap="flat" cmpd="sng" w="12700">
            <a:solidFill>
              <a:srgbClr val="7C3AED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457200" y="320040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>
            <a:noFill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188720" y="384048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ComplianceAI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6583680" y="347472"/>
            <a:ext cx="2011680" cy="384048"/>
          </a:xfrm>
          <a:prstGeom prst="rect">
            <a:avLst/>
          </a:prstGeom>
          <a:solidFill>
            <a:srgbClr val="2563EB">
              <a:alpha val="14901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6583680" y="34747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BIS-RAG ENGINE  v2.5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5200"/>
              <a:buFont typeface="Calibri"/>
              <a:buNone/>
            </a:pPr>
            <a:r>
              <a:rPr b="1" i="0" lang="en-GB" sz="5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BIS Standards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5200"/>
              <a:buFont typeface="Calibri"/>
              <a:buNone/>
            </a:pPr>
            <a:r>
              <a:rPr b="1" i="0" lang="en-GB" sz="5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Intelligence Platform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457200" y="278892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GB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AI-Powered RAG Engine · Hybrid TF-IDF + BM25 + Keyword Fusion · Ollama LLM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57200" y="3383280"/>
            <a:ext cx="2286000" cy="777240"/>
          </a:xfrm>
          <a:prstGeom prst="rect">
            <a:avLst/>
          </a:prstGeom>
          <a:solidFill>
            <a:srgbClr val="2563EB">
              <a:alpha val="18039"/>
            </a:srgbClr>
          </a:solidFill>
          <a:ln cap="flat" cmpd="sng" w="12700">
            <a:solidFill>
              <a:srgbClr val="2563E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457200" y="340156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40+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57200" y="372160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 Standards Indexed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3017520" y="3383280"/>
            <a:ext cx="2286000" cy="777240"/>
          </a:xfrm>
          <a:prstGeom prst="rect">
            <a:avLst/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3017520" y="340156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&lt;2s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3017520" y="372160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Query Latency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5577840" y="3383280"/>
            <a:ext cx="2286000" cy="777240"/>
          </a:xfrm>
          <a:prstGeom prst="rect">
            <a:avLst/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5577840" y="340156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Hit@3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577840" y="372160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Target &gt;80%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15"/>
          <p:cNvCxnSpPr/>
          <p:nvPr/>
        </p:nvCxnSpPr>
        <p:spPr>
          <a:xfrm>
            <a:off x="457200" y="4370832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Kandukuri Jaswanth  </a:t>
            </a:r>
            <a:r>
              <a:rPr b="0" i="0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 8096656189  ·  Founder, GYaaNa SAroVar (GYSV)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7132320" y="4434840"/>
            <a:ext cx="1554480" cy="411480"/>
          </a:xfrm>
          <a:prstGeom prst="rect">
            <a:avLst/>
          </a:prstGeom>
          <a:solidFill>
            <a:srgbClr val="7C3AED">
              <a:alpha val="21960"/>
            </a:srgbClr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7132320" y="44348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750"/>
              <a:buFont typeface="Calibri"/>
              <a:buNone/>
            </a:pPr>
            <a:r>
              <a:rPr b="0" i="0" lang="en-GB" sz="75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BIS × Sigma Squad Hackathon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365760" y="256032"/>
            <a:ext cx="1828800" cy="320040"/>
          </a:xfrm>
          <a:prstGeom prst="rect">
            <a:avLst/>
          </a:prstGeom>
          <a:solidFill>
            <a:srgbClr val="2563EB">
              <a:alpha val="18039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365760" y="2560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65760" y="68580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600"/>
              <a:buFont typeface="Calibri"/>
              <a:buNone/>
            </a:pPr>
            <a:r>
              <a:rPr b="1" i="0" lang="en-GB" sz="3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MSE Compliance is Broken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65760" y="1600200"/>
            <a:ext cx="4937760" cy="96012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563E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365760" y="1600200"/>
            <a:ext cx="73152" cy="9601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502920" y="16459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1143000" y="1655064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Weeks of Research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1143000" y="2002536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MSEs spend 3–8 weeks manually scanning BIS SP 21 catalogs to find applicable standards for a single product category.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365760" y="2679192"/>
            <a:ext cx="4937760" cy="96012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563E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365760" y="2679192"/>
            <a:ext cx="73152" cy="9601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02920" y="272491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143000" y="2734056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Costly Errors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143000" y="3081528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Wrong or missing standards mean product rejections, failed ISI mark applications, and BIS Act penalties up to ₹2 lakhs.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65760" y="3758184"/>
            <a:ext cx="4937760" cy="96012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563E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365760" y="3758184"/>
            <a:ext cx="73152" cy="9601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02920" y="380390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1143000" y="3813048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Information Overload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1143000" y="416052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Over 20,000 IS standards exist. Without expert guidance, finding the 3–5 applicable ones is impossible for small teams.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760720" y="1508760"/>
            <a:ext cx="3017520" cy="32918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563E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60720" y="173736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Calibri"/>
              <a:buNone/>
            </a:pPr>
            <a:r>
              <a:rPr lang="en-GB" sz="12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200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Calibri"/>
              <a:buNone/>
            </a:pPr>
            <a:r>
              <a:rPr lang="en-GB" sz="12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https://github.com/KandukuriJaswanth/ComplianceAI-Hybrid-RAG-System-for-BIS-Compliance-Automation/blob/main/README.md</a:t>
            </a:r>
            <a:endParaRPr sz="1200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943600" y="26060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16"/>
          <p:cNvCxnSpPr/>
          <p:nvPr/>
        </p:nvCxnSpPr>
        <p:spPr>
          <a:xfrm>
            <a:off x="6126480" y="3218688"/>
            <a:ext cx="1920240" cy="0"/>
          </a:xfrm>
          <a:prstGeom prst="straightConnector1">
            <a:avLst/>
          </a:prstGeom>
          <a:noFill/>
          <a:ln cap="flat" cmpd="sng" w="9525">
            <a:solidFill>
              <a:srgbClr val="64748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16"/>
          <p:cNvSpPr/>
          <p:nvPr/>
        </p:nvSpPr>
        <p:spPr>
          <a:xfrm>
            <a:off x="5760720" y="3337560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Calibri"/>
              <a:buNone/>
            </a:pPr>
            <a:r>
              <a:rPr b="1" lang="en-GB" sz="3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GB" sz="3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weeks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943600" y="391363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avg compliance research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Source: BIS Annual Report 2023 · MSME Survey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2563EB">
              <a:alpha val="7843"/>
            </a:srgbClr>
          </a:solidFill>
          <a:ln cap="flat" cmpd="sng" w="12700">
            <a:solidFill>
              <a:srgbClr val="2563EB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365760" y="256032"/>
            <a:ext cx="2011680" cy="320040"/>
          </a:xfrm>
          <a:prstGeom prst="rect">
            <a:avLst/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365760" y="25603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65760" y="68580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b="1" i="0" lang="en-GB" sz="3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ComplianceAI — Instant BIS Discovery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365760" y="138988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GB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product description to top-5 BIS standards in under 2 seconds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65760" y="1920240"/>
            <a:ext cx="4023360" cy="12801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563EB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65760" y="1920240"/>
            <a:ext cx="64008" cy="12801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30352" y="20116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188720" y="201168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Hybrid RAG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1188720" y="237744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TF-IDF + BM25 + Keyword + RRF Fusion — not just one retriever, but three fused together for maximum 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709160" y="1920240"/>
            <a:ext cx="4023360" cy="12801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8B5CF6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09160" y="1920240"/>
            <a:ext cx="64008" cy="128016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4873752" y="20116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532120" y="201168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Ollama LLM Rationale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532120" y="237744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Local llama3.2:3b model generates human-readable compliance rationale — zero API costs, fully offline capable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65760" y="3383280"/>
            <a:ext cx="4023360" cy="12801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10B981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365760" y="3383280"/>
            <a:ext cx="64008" cy="12801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30352" y="3474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📂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1188720" y="347472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Custom Dataset Upload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1188720" y="384048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 your own JSON/CSV standards — extend beyond built-in 40 IS standards from BIS SP 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709160" y="3383280"/>
            <a:ext cx="4023360" cy="12801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F59E0B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4709160" y="3383280"/>
            <a:ext cx="64008" cy="12801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4873752" y="3474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532120" y="347472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Live Eval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532120" y="384048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Hit@3, MRR@5 and latency metrics with per-query breakdown and JSON export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2563EB">
              <a:alpha val="12156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🎯  Reduces compliance research from 8 weeks → 2 seconds  ·  Saves ₹50,000+ per compliance cycle  ·  Built for 63 million Indian MSEs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365760" y="256032"/>
            <a:ext cx="2194560" cy="320040"/>
          </a:xfrm>
          <a:prstGeom prst="rect">
            <a:avLst/>
          </a:prstGeom>
          <a:solidFill>
            <a:srgbClr val="7C3AED">
              <a:alpha val="18039"/>
            </a:srgbClr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365760" y="25603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Full-Stack BIS-RAG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65760" y="1417320"/>
            <a:ext cx="4023360" cy="1508760"/>
          </a:xfrm>
          <a:prstGeom prst="rect">
            <a:avLst/>
          </a:prstGeom>
          <a:solidFill>
            <a:srgbClr val="7C3AED">
              <a:alpha val="10196"/>
            </a:srgbClr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365760" y="1417320"/>
            <a:ext cx="4023360" cy="347472"/>
          </a:xfrm>
          <a:prstGeom prst="rect">
            <a:avLst/>
          </a:prstGeom>
          <a:solidFill>
            <a:srgbClr val="7C3AED">
              <a:alpha val="25098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475488" y="1453896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🎨  FRONTEND  (index.html)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475488" y="1819656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Login/Signup Auth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Discover (RAG Search)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Dataset Upload &amp; Parse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2423160" y="1819656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Eval 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Standards Explorer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709160" y="1417320"/>
            <a:ext cx="4023360" cy="1508760"/>
          </a:xfrm>
          <a:prstGeom prst="rect">
            <a:avLst/>
          </a:prstGeom>
          <a:solidFill>
            <a:srgbClr val="2563EB">
              <a:alpha val="10196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4709160" y="1417320"/>
            <a:ext cx="4023360" cy="347472"/>
          </a:xfrm>
          <a:prstGeom prst="rect">
            <a:avLst/>
          </a:prstGeom>
          <a:solidFill>
            <a:srgbClr val="2563EB">
              <a:alpha val="25098"/>
            </a:srgbClr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4818888" y="1453896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⚙  API LAYER  (FastAPI – server.py)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4818888" y="1819656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 /query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 /batch_eval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 /upload_dataset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766560" y="1819656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JWT Auth Middleware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CORS + Rate Limiting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365760" y="3081528"/>
            <a:ext cx="4023360" cy="1508760"/>
          </a:xfrm>
          <a:prstGeom prst="rect">
            <a:avLst/>
          </a:prstGeom>
          <a:solidFill>
            <a:srgbClr val="D97706">
              <a:alpha val="10196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365760" y="3081528"/>
            <a:ext cx="4023360" cy="347472"/>
          </a:xfrm>
          <a:prstGeom prst="rect">
            <a:avLst/>
          </a:prstGeom>
          <a:solidFill>
            <a:srgbClr val="D97706">
              <a:alpha val="25098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475488" y="3118104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🧠  RAG CORE  (engine.py)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75488" y="3483864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Query Expander (NLTK)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TF-IDF Retriever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BM25 Okapi Retriever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2423160" y="3483864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Keyword Rules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RRF Fusion + Re-Rank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Ollama LLM Interface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709160" y="3081528"/>
            <a:ext cx="4023360" cy="1508760"/>
          </a:xfrm>
          <a:prstGeom prst="rect">
            <a:avLst/>
          </a:prstGeom>
          <a:solidFill>
            <a:srgbClr val="059669">
              <a:alpha val="10196"/>
            </a:srgbClr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4709160" y="3081528"/>
            <a:ext cx="4023360" cy="347472"/>
          </a:xfrm>
          <a:prstGeom prst="rect">
            <a:avLst/>
          </a:prstGeom>
          <a:solidFill>
            <a:srgbClr val="059669">
              <a:alpha val="25098"/>
            </a:srgbClr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4818888" y="3118104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📂  DATA LAYER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818888" y="3483864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40 IS Standards JSON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User-Uploaded Datasets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TF-IDF Vector Cache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766560" y="3483864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BM25 Token Index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Public Test Set (10 queries)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18"/>
          <p:cNvCxnSpPr/>
          <p:nvPr/>
        </p:nvCxnSpPr>
        <p:spPr>
          <a:xfrm>
            <a:off x="4526280" y="1417320"/>
            <a:ext cx="0" cy="4617720"/>
          </a:xfrm>
          <a:prstGeom prst="straightConnector1">
            <a:avLst/>
          </a:prstGeom>
          <a:noFill/>
          <a:ln cap="flat" cmpd="sng" w="19050">
            <a:solidFill>
              <a:srgbClr val="3B82F6">
                <a:alpha val="45098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9" name="Google Shape;189;p18"/>
          <p:cNvSpPr/>
          <p:nvPr/>
        </p:nvSpPr>
        <p:spPr>
          <a:xfrm>
            <a:off x="2286000" y="3017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629400" y="3017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/>
          <p:nvPr/>
        </p:nvSpPr>
        <p:spPr>
          <a:xfrm>
            <a:off x="365760" y="256032"/>
            <a:ext cx="2286000" cy="320040"/>
          </a:xfrm>
          <a:prstGeom prst="rect">
            <a:avLst/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CD34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365760" y="2560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RETRIEVAL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Hybrid 3-Retriever RRF Fusion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365760" y="1463040"/>
            <a:ext cx="2697480" cy="21945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365760" y="1463040"/>
            <a:ext cx="2697480" cy="457200"/>
          </a:xfrm>
          <a:prstGeom prst="rect">
            <a:avLst/>
          </a:prstGeom>
          <a:solidFill>
            <a:srgbClr val="3B82F6">
              <a:alpha val="25098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475488" y="150876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011680" y="150876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75488" y="199339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TF-IDF Retriever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475488" y="237744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sklearn TfidfVectorizer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ngram range (1,3), 10K vocab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Cosine similarity scoring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Domain stop-word removal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3246120" y="1463040"/>
            <a:ext cx="2697480" cy="21945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3246120" y="1463040"/>
            <a:ext cx="2697480" cy="457200"/>
          </a:xfrm>
          <a:prstGeom prst="rect">
            <a:avLst/>
          </a:prstGeom>
          <a:solidFill>
            <a:srgbClr val="F59E0B">
              <a:alpha val="25098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3355848" y="150876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892040" y="150876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3355848" y="199339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BM25 Okapi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3355848" y="237744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rank_bm25 library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k1=1.5, b=0.75 tuned params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PorterStemmer tokenization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20+ synonym expansions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6126480" y="1463040"/>
            <a:ext cx="2697480" cy="21945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6126480" y="1463040"/>
            <a:ext cx="2697480" cy="457200"/>
          </a:xfrm>
          <a:prstGeom prst="rect">
            <a:avLst/>
          </a:prstGeom>
          <a:solidFill>
            <a:srgbClr val="10B981">
              <a:alpha val="25098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6236208" y="150876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7772400" y="150876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236208" y="199339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Keyword Rules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236208" y="237744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Domain ontology mapping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 grade detection (Fe500, M30)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 &amp; category boosting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Entity extraction (NLP)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365760" y="3794760"/>
            <a:ext cx="8412480" cy="658368"/>
          </a:xfrm>
          <a:prstGeom prst="rect">
            <a:avLst/>
          </a:prstGeom>
          <a:solidFill>
            <a:srgbClr val="8B5CF6">
              <a:alpha val="12156"/>
            </a:srgbClr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RRF Formula:  </a:t>
            </a:r>
            <a:r>
              <a:rPr b="0" i="0" lang="en-GB" sz="12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RRF_score = 0.40/(60+rank_tfidf) + 0.35/(60+rank_bm25) + 0.25/(60+rank_kw)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Sort by RRF score  →  Mandatory boost ×1.5  →  ISI Mark boost ×1.15  →  Active status ×1.05  →  Top-5 output → Ollama LLM rationale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3017520" y="22402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5897880" y="224028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/>
          <p:nvPr/>
        </p:nvSpPr>
        <p:spPr>
          <a:xfrm>
            <a:off x="365760" y="256032"/>
            <a:ext cx="1920240" cy="320040"/>
          </a:xfrm>
          <a:prstGeom prst="rect">
            <a:avLst/>
          </a:prstGeom>
          <a:solidFill>
            <a:srgbClr val="2563EB">
              <a:alpha val="18039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365760" y="25603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USER JOURNEY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From Query to Compliance in 5 Steps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365760" y="1508760"/>
            <a:ext cx="1554480" cy="256032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563E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914400" y="1600200"/>
            <a:ext cx="502920" cy="502920"/>
          </a:xfrm>
          <a:prstGeom prst="ellipse">
            <a:avLst/>
          </a:prstGeom>
          <a:solidFill>
            <a:srgbClr val="2563EB">
              <a:alpha val="27843"/>
            </a:srgbClr>
          </a:solidFill>
          <a:ln cap="flat" cmpd="sng" w="12700">
            <a:solidFill>
              <a:srgbClr val="2563E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914400" y="1600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777240" y="224028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38912" y="29260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Describe 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38912" y="33375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Type natural language description of your material or product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901952" y="25146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2084832" y="1508760"/>
            <a:ext cx="1554480" cy="256032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3B82F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2633472" y="1600200"/>
            <a:ext cx="502920" cy="502920"/>
          </a:xfrm>
          <a:prstGeom prst="ellipse">
            <a:avLst/>
          </a:prstGeom>
          <a:solidFill>
            <a:srgbClr val="3B82F6">
              <a:alpha val="27843"/>
            </a:srgbClr>
          </a:solidFill>
          <a:ln cap="flat" cmpd="sng" w="12700">
            <a:solidFill>
              <a:srgbClr val="3B82F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2633472" y="1600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2496312" y="224028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🔎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2157984" y="29260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Query Expansion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2157984" y="33375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NLP synonym expansion — OPC → ordinary portland cement, clinker, 43 grade...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3621024" y="25146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3803904" y="1508760"/>
            <a:ext cx="1554480" cy="256032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8B5CF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4352544" y="1600200"/>
            <a:ext cx="502920" cy="502920"/>
          </a:xfrm>
          <a:prstGeom prst="ellipse">
            <a:avLst/>
          </a:prstGeom>
          <a:solidFill>
            <a:srgbClr val="8B5CF6">
              <a:alpha val="27843"/>
            </a:srgbClr>
          </a:solidFill>
          <a:ln cap="flat" cmpd="sng" w="12700">
            <a:solidFill>
              <a:srgbClr val="8B5CF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4352544" y="1600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4215384" y="224028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3877056" y="29260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Hybrid 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3877056" y="33375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TF-IDF + BM25 + Keyword retrieve top candidates; RRF fusion merges rankings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340096" y="25146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522976" y="1508760"/>
            <a:ext cx="1554480" cy="256032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F59E0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6071616" y="1600200"/>
            <a:ext cx="502920" cy="502920"/>
          </a:xfrm>
          <a:prstGeom prst="ellipse">
            <a:avLst/>
          </a:prstGeom>
          <a:solidFill>
            <a:srgbClr val="F59E0B">
              <a:alpha val="27843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6071616" y="1600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934456" y="224028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596128" y="29260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Re-Rank &amp; Boost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5596128" y="33375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Mandatory standards boosted ×1.5; ISI mark required boosted ×1.15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7059168" y="25146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7242048" y="1508760"/>
            <a:ext cx="1554480" cy="256032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10B981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7790688" y="1600200"/>
            <a:ext cx="502920" cy="502920"/>
          </a:xfrm>
          <a:prstGeom prst="ellipse">
            <a:avLst/>
          </a:prstGeom>
          <a:solidFill>
            <a:srgbClr val="10B981">
              <a:alpha val="27843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7790688" y="1600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7653528" y="224028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GB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7315200" y="29260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LLM Rationale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7315200" y="33375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Ollama llama3.2:3b generates compliance explanation with actionable next steps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1E2638"/>
          </a:solidFill>
          <a:ln cap="flat" cmpd="sng" w="12700">
            <a:solidFill>
              <a:srgbClr val="2563E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457200" y="427939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Example Output: </a:t>
            </a:r>
            <a:r>
              <a:rPr b="0" i="1" lang="en-GB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"I manufacture OPC 53 cement for precast"</a:t>
            </a:r>
            <a:r>
              <a:rPr b="0" i="0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GB" sz="11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IS 269:2015  ·  IS 1489-1:2015  ·  IS 456:2000  ·  IS 8041:2017  ·  IS 10262:2019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Latency: 1.82s  ·  Confidence: 94%  ·  2 Mandatory (ISI Required)  ·  LLM Rationale Generated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/>
          <p:nvPr/>
        </p:nvSpPr>
        <p:spPr>
          <a:xfrm>
            <a:off x="365760" y="256032"/>
            <a:ext cx="2011680" cy="320040"/>
          </a:xfrm>
          <a:prstGeom prst="rect">
            <a:avLst/>
          </a:prstGeom>
          <a:solidFill>
            <a:srgbClr val="10B981">
              <a:alpha val="18039"/>
            </a:srgbClr>
          </a:solidFill>
          <a:ln cap="flat" cmpd="sng" w="12700">
            <a:solidFill>
              <a:srgbClr val="6EE7B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365760" y="25603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EVALUATION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Hackathon Metrics — All Targets Exceeded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365760" y="1463040"/>
            <a:ext cx="2697480" cy="182880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365760" y="155448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4400"/>
              <a:buFont typeface="Calibri"/>
              <a:buNone/>
            </a:pPr>
            <a:r>
              <a:rPr b="1" i="0" lang="en-GB" sz="4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365760" y="235915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Hit Rate @3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365760" y="2688336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Target: &gt;80%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502920" y="2999232"/>
            <a:ext cx="2423160" cy="91440"/>
          </a:xfrm>
          <a:prstGeom prst="rect">
            <a:avLst/>
          </a:prstGeom>
          <a:solidFill>
            <a:srgbClr val="1E2638"/>
          </a:solidFill>
          <a:ln cap="flat" cmpd="sng" w="12700">
            <a:solidFill>
              <a:srgbClr val="1E26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502920" y="2999232"/>
            <a:ext cx="2180844" cy="914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365760" y="3127248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+10 pts above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3246120" y="1463040"/>
            <a:ext cx="2697480" cy="182880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3246120" y="155448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400"/>
              <a:buFont typeface="Calibri"/>
              <a:buNone/>
            </a:pPr>
            <a:r>
              <a:rPr b="1" i="0" lang="en-GB" sz="4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0.81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3246120" y="235915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MRR @5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3246120" y="2688336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Target: &gt;0.70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3383280" y="2999232"/>
            <a:ext cx="2423160" cy="91440"/>
          </a:xfrm>
          <a:prstGeom prst="rect">
            <a:avLst/>
          </a:prstGeom>
          <a:solidFill>
            <a:srgbClr val="1E2638"/>
          </a:solidFill>
          <a:ln cap="flat" cmpd="sng" w="12700">
            <a:solidFill>
              <a:srgbClr val="1E26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3383280" y="2999232"/>
            <a:ext cx="1962760" cy="91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3246120" y="3127248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✓ +0.11 above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126480" y="1463040"/>
            <a:ext cx="2697480" cy="182880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6126480" y="155448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400"/>
              <a:buFont typeface="Calibri"/>
              <a:buNone/>
            </a:pPr>
            <a:r>
              <a:rPr b="1" i="0" lang="en-GB" sz="4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1.85s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6126480" y="235915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Avg Latency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6126480" y="2688336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Target: &lt;5.00s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6263640" y="2999232"/>
            <a:ext cx="2423160" cy="91440"/>
          </a:xfrm>
          <a:prstGeom prst="rect">
            <a:avLst/>
          </a:prstGeom>
          <a:solidFill>
            <a:srgbClr val="1E2638"/>
          </a:solidFill>
          <a:ln cap="flat" cmpd="sng" w="12700">
            <a:solidFill>
              <a:srgbClr val="1E26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6263640" y="2999232"/>
            <a:ext cx="1526591" cy="9144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6126480" y="3127248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✓ 2.7× faster than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3566160"/>
            <a:ext cx="8412480" cy="141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10B981">
              <a:alpha val="7058"/>
            </a:srgbClr>
          </a:solidFill>
          <a:ln cap="flat" cmpd="sng" w="12700">
            <a:solidFill>
              <a:srgbClr val="10B981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365760" y="256032"/>
            <a:ext cx="1828800" cy="320040"/>
          </a:xfrm>
          <a:prstGeom prst="rect">
            <a:avLst/>
          </a:prstGeom>
          <a:solidFill>
            <a:srgbClr val="10B981">
              <a:alpha val="18039"/>
            </a:srgbClr>
          </a:solidFill>
          <a:ln cap="flat" cmpd="sng" w="12700">
            <a:solidFill>
              <a:srgbClr val="6EE7B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365760" y="2560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REAL-WORLD IMPACT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Built for 63 Million Indian MSEs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365760" y="1444752"/>
            <a:ext cx="2011680" cy="12344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60A5F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365760" y="15087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63M+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457200" y="208483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MSEs in India that need BIS 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2542032" y="1444752"/>
            <a:ext cx="2011680" cy="12344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F59E0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2542032" y="15087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₹50K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2633472" y="208483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Saved per compliance cycle per business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4718304" y="1444752"/>
            <a:ext cx="2011680" cy="12344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10B981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4718304" y="15087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8wk→2s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4809744" y="208483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Research time reduction achieved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6894576" y="1444752"/>
            <a:ext cx="2011680" cy="12344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C4B5FD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6894576" y="15087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40+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6986016" y="208483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 Standards from BIS SP 21 covered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365760" y="28803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Who 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365760" y="3310128"/>
            <a:ext cx="4114800" cy="457200"/>
          </a:xfrm>
          <a:prstGeom prst="rect">
            <a:avLst/>
          </a:prstGeom>
          <a:solidFill>
            <a:srgbClr val="1E2638">
              <a:alpha val="80000"/>
            </a:srgbClr>
          </a:solidFill>
          <a:ln cap="flat" cmpd="sng" w="12700">
            <a:solidFill>
              <a:srgbClr val="2563EB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457200" y="3310128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🏭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932688" y="334670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Cement Manufacturers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932688" y="35387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Instantly identify IS 269, IS 1489 requirements before ISI mark application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4709160" y="3310128"/>
            <a:ext cx="4114800" cy="457200"/>
          </a:xfrm>
          <a:prstGeom prst="rect">
            <a:avLst/>
          </a:prstGeom>
          <a:solidFill>
            <a:srgbClr val="1E2638">
              <a:alpha val="80000"/>
            </a:srgbClr>
          </a:solidFill>
          <a:ln cap="flat" cmpd="sng" w="12700">
            <a:solidFill>
              <a:srgbClr val="2563EB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4800600" y="3310128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5276088" y="334670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Steel Fabricators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5276088" y="35387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Confirm Fe 415/500/550 grade compliance for seismic zone projects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365760" y="3831336"/>
            <a:ext cx="4114800" cy="457200"/>
          </a:xfrm>
          <a:prstGeom prst="rect">
            <a:avLst/>
          </a:prstGeom>
          <a:solidFill>
            <a:srgbClr val="1E2638">
              <a:alpha val="80000"/>
            </a:srgbClr>
          </a:solidFill>
          <a:ln cap="flat" cmpd="sng" w="12700">
            <a:solidFill>
              <a:srgbClr val="2563EB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457200" y="383133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🧱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932688" y="386791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Construction Material SMEs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932688" y="405993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Navigate 40+ standards across concrete, masonry, tiles, glass, pipes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4709160" y="3831336"/>
            <a:ext cx="4114800" cy="457200"/>
          </a:xfrm>
          <a:prstGeom prst="rect">
            <a:avLst/>
          </a:prstGeom>
          <a:solidFill>
            <a:srgbClr val="1E2638">
              <a:alpha val="80000"/>
            </a:srgbClr>
          </a:solidFill>
          <a:ln cap="flat" cmpd="sng" w="12700">
            <a:solidFill>
              <a:srgbClr val="2563EB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4800600" y="383133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5276088" y="386791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Compliance Consultants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5276088" y="405993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Reduce client research time from weeks to seconds with exportable results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365760" y="4352544"/>
            <a:ext cx="4114800" cy="457200"/>
          </a:xfrm>
          <a:prstGeom prst="rect">
            <a:avLst/>
          </a:prstGeom>
          <a:solidFill>
            <a:srgbClr val="1E2638">
              <a:alpha val="80000"/>
            </a:srgbClr>
          </a:solidFill>
          <a:ln cap="flat" cmpd="sng" w="12700">
            <a:solidFill>
              <a:srgbClr val="2563EB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457200" y="4352544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932688" y="438912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Infrastructure Developers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932688" y="4581144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Ensure bridge, marine and highway projects meet correct BIS standards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4709160" y="4352544"/>
            <a:ext cx="4114800" cy="457200"/>
          </a:xfrm>
          <a:prstGeom prst="rect">
            <a:avLst/>
          </a:prstGeom>
          <a:solidFill>
            <a:srgbClr val="1E2638">
              <a:alpha val="80000"/>
            </a:srgbClr>
          </a:solidFill>
          <a:ln cap="flat" cmpd="sng" w="12700">
            <a:solidFill>
              <a:srgbClr val="2563EB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4800600" y="4352544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5276088" y="438912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Quality Labs &amp; BIS Offices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5276088" y="4581144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Cross-reference standards quickly using hybrid search with JSON 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/>
          <p:nvPr/>
        </p:nvSpPr>
        <p:spPr>
          <a:xfrm>
            <a:off x="365760" y="256032"/>
            <a:ext cx="1645920" cy="320040"/>
          </a:xfrm>
          <a:prstGeom prst="rect">
            <a:avLst/>
          </a:prstGeom>
          <a:solidFill>
            <a:srgbClr val="2563EB">
              <a:alpha val="18039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365760" y="2560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Technology Choices &amp; Why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365760" y="1463040"/>
            <a:ext cx="4069080" cy="10515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8B5CF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365760" y="1463040"/>
            <a:ext cx="64008" cy="105156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530352" y="1554480"/>
            <a:ext cx="640080" cy="256032"/>
          </a:xfrm>
          <a:prstGeom prst="rect">
            <a:avLst/>
          </a:prstGeom>
          <a:solidFill>
            <a:srgbClr val="8B5CF6">
              <a:alpha val="21960"/>
            </a:srgbClr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/>
          <p:nvPr/>
        </p:nvSpPr>
        <p:spPr>
          <a:xfrm>
            <a:off x="530352" y="155448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LLM /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1261872" y="1536192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onsolas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Ollama (llama3.2:3b)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1261872" y="1883664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Zero API cost, fully offline, hackathon-friendly local 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4709160" y="1463040"/>
            <a:ext cx="4069080" cy="10515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3B82F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4709160" y="146304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3"/>
          <p:cNvSpPr/>
          <p:nvPr/>
        </p:nvSpPr>
        <p:spPr>
          <a:xfrm>
            <a:off x="4873752" y="1554480"/>
            <a:ext cx="640080" cy="256032"/>
          </a:xfrm>
          <a:prstGeom prst="rect">
            <a:avLst/>
          </a:prstGeom>
          <a:solidFill>
            <a:srgbClr val="3B82F6">
              <a:alpha val="21960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3"/>
          <p:cNvSpPr/>
          <p:nvPr/>
        </p:nvSpPr>
        <p:spPr>
          <a:xfrm>
            <a:off x="4873752" y="155448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NLP / IR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5605272" y="1536192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onsolas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sklearn + rank_bm25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5605272" y="1883664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Best-in-class TF-IDF vectorizer (ngram 1-3, 10K vocab) + BM25 Okapi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365760" y="2633472"/>
            <a:ext cx="4069080" cy="10515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F59E0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365760" y="2633472"/>
            <a:ext cx="64008" cy="10515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530352" y="2724912"/>
            <a:ext cx="640080" cy="256032"/>
          </a:xfrm>
          <a:prstGeom prst="rect">
            <a:avLst/>
          </a:prstGeom>
          <a:solidFill>
            <a:srgbClr val="F59E0B">
              <a:alpha val="21960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530352" y="272491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1261872" y="2706624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onsolas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FastAPI + Uvicorn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1261872" y="3054096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Async Python API — low latency, auto Swagger docs, easy to deploy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4709160" y="2633472"/>
            <a:ext cx="4069080" cy="10515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10B981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3"/>
          <p:cNvSpPr/>
          <p:nvPr/>
        </p:nvSpPr>
        <p:spPr>
          <a:xfrm>
            <a:off x="4709160" y="2633472"/>
            <a:ext cx="64008" cy="10515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4873752" y="2724912"/>
            <a:ext cx="640080" cy="256032"/>
          </a:xfrm>
          <a:prstGeom prst="rect">
            <a:avLst/>
          </a:prstGeom>
          <a:solidFill>
            <a:srgbClr val="10B981">
              <a:alpha val="21960"/>
            </a:srgbClr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3"/>
          <p:cNvSpPr/>
          <p:nvPr/>
        </p:nvSpPr>
        <p:spPr>
          <a:xfrm>
            <a:off x="4873752" y="272491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5605272" y="2706624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onsolas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Single-File HTML/JS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5605272" y="3054096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Zero build tools, instant load, deploy on any static host or local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365760" y="3803904"/>
            <a:ext cx="4069080" cy="10515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60A5F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3"/>
          <p:cNvSpPr/>
          <p:nvPr/>
        </p:nvSpPr>
        <p:spPr>
          <a:xfrm>
            <a:off x="365760" y="3803904"/>
            <a:ext cx="64008" cy="1051560"/>
          </a:xfrm>
          <a:prstGeom prst="rect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530352" y="3895344"/>
            <a:ext cx="640080" cy="256032"/>
          </a:xfrm>
          <a:prstGeom prst="rect">
            <a:avLst/>
          </a:prstGeom>
          <a:solidFill>
            <a:srgbClr val="60A5FA">
              <a:alpha val="21960"/>
            </a:srgbClr>
          </a:solidFill>
          <a:ln cap="flat" cmpd="sng" w="12700">
            <a:solidFill>
              <a:srgbClr val="60A5F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530352" y="3895344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Text NLP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1261872" y="3877056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onsolas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NLTK + PorterStemmer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1261872" y="4224528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Domain stop-word removal + stemming improves BM25 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4709160" y="3803904"/>
            <a:ext cx="4069080" cy="10515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EF444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4709160" y="3803904"/>
            <a:ext cx="64008" cy="10515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4873752" y="3895344"/>
            <a:ext cx="640080" cy="256032"/>
          </a:xfrm>
          <a:prstGeom prst="rect">
            <a:avLst/>
          </a:prstGeom>
          <a:solidFill>
            <a:srgbClr val="EF4444">
              <a:alpha val="21960"/>
            </a:srgbClr>
          </a:solidFill>
          <a:ln cap="flat" cmpd="sng" w="12700">
            <a:solidFill>
              <a:srgbClr val="EF44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3"/>
          <p:cNvSpPr/>
          <p:nvPr/>
        </p:nvSpPr>
        <p:spPr>
          <a:xfrm>
            <a:off x="4873752" y="3895344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5605272" y="3877056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onsolas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BIS SP 21 JSON (40 stds)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5605272" y="4224528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Hand-curated from official BIS publications with keywords, grades, products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365760" y="4681728"/>
            <a:ext cx="8412480" cy="301752"/>
          </a:xfrm>
          <a:prstGeom prst="rect">
            <a:avLst/>
          </a:prstGeom>
          <a:solidFill>
            <a:srgbClr val="1E2638"/>
          </a:solidFill>
          <a:ln cap="flat" cmpd="sng" w="12700">
            <a:solidFill>
              <a:srgbClr val="2563E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onsolas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📁  bis-rag-system/  ·  inference.py  ·  eval_script.py  ·  src/rag/engine.py  ·  src/api/server.py  ·  data/bis_standards.json  ·  README.md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4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24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24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24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24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24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24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24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24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24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24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24"/>
          <p:cNvSpPr/>
          <p:nvPr/>
        </p:nvSpPr>
        <p:spPr>
          <a:xfrm>
            <a:off x="365760" y="256032"/>
            <a:ext cx="1645920" cy="320040"/>
          </a:xfrm>
          <a:prstGeom prst="rect">
            <a:avLst/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CD34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365760" y="2560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5 Modules — One Platform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365760" y="1417320"/>
            <a:ext cx="2743200" cy="15087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3B82F6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365760" y="1417320"/>
            <a:ext cx="2743200" cy="457200"/>
          </a:xfrm>
          <a:prstGeom prst="rect">
            <a:avLst/>
          </a:prstGeom>
          <a:solidFill>
            <a:srgbClr val="3B82F6">
              <a:alpha val="18039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475488" y="149047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🔍 Discover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475488" y="1947672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Natural language query → Top 5 BIS standards with confidence scores, per-retriever breakdown &amp; LLM rationale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3291840" y="1417320"/>
            <a:ext cx="2743200" cy="15087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8B5CF6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4"/>
          <p:cNvSpPr/>
          <p:nvPr/>
        </p:nvSpPr>
        <p:spPr>
          <a:xfrm>
            <a:off x="3291840" y="1417320"/>
            <a:ext cx="2743200" cy="457200"/>
          </a:xfrm>
          <a:prstGeom prst="rect">
            <a:avLst/>
          </a:prstGeom>
          <a:solidFill>
            <a:srgbClr val="8B5CF6">
              <a:alpha val="18039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3401568" y="149047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📂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3401568" y="1947672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 JSON/CSV standards; built-in table with filter/search/delete; rebuild TF-IDF index on-demand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6217920" y="1417320"/>
            <a:ext cx="2743200" cy="15087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10B981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6217920" y="1417320"/>
            <a:ext cx="2743200" cy="457200"/>
          </a:xfrm>
          <a:prstGeom prst="rect">
            <a:avLst/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6327648" y="149047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📊 Evaluation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6327648" y="1947672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 10 public test queries; real-time Hit@3, MRR@5, latency gauges; export eval 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365760" y="3108960"/>
            <a:ext cx="2743200" cy="15087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F59E0B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475488" y="318211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📚 Standards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475488" y="3639312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IS SP 21 index — filter by category, mandatory, ISI; click any row for modal detail 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3291840" y="3108960"/>
            <a:ext cx="2743200" cy="15087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60A5FA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3291840" y="3108960"/>
            <a:ext cx="2743200" cy="457200"/>
          </a:xfrm>
          <a:prstGeom prst="rect">
            <a:avLst/>
          </a:prstGeom>
          <a:solidFill>
            <a:srgbClr val="60A5FA">
              <a:alpha val="18039"/>
            </a:srgbClr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3401568" y="318211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🏗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3401568" y="3639312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Visual system diagram — layers, RRF formula, retriever weights, repo structure with file paths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365760" y="4681728"/>
            <a:ext cx="8412480" cy="301752"/>
          </a:xfrm>
          <a:prstGeom prst="rect">
            <a:avLst/>
          </a:prstGeom>
          <a:solidFill>
            <a:srgbClr val="8B5CF6">
              <a:alpha val="12156"/>
            </a:srgbClr>
          </a:solidFill>
          <a:ln cap="flat" cmpd="sng" w="12700">
            <a:solidFill>
              <a:srgbClr val="8B5C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4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🔑  Full Auth Flow: Login / Signup with validation · Demo Account · Organisation SSO stub · Remember Me · JWT-ready backend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914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2563EB">
              <a:alpha val="7058"/>
            </a:srgbClr>
          </a:solidFill>
          <a:ln cap="flat" cmpd="sng" w="12700">
            <a:solidFill>
              <a:srgbClr val="2563EB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8B5CF6">
              <a:alpha val="5882"/>
            </a:srgbClr>
          </a:solidFill>
          <a:ln cap="flat" cmpd="sng" w="12700">
            <a:solidFill>
              <a:srgbClr val="8B5CF6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7" name="Google Shape;437;p2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25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25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25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25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25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25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25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25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25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25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563E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25"/>
          <p:cNvSpPr/>
          <p:nvPr/>
        </p:nvSpPr>
        <p:spPr>
          <a:xfrm>
            <a:off x="3886200" y="365760"/>
            <a:ext cx="1371600" cy="1371600"/>
          </a:xfrm>
          <a:prstGeom prst="roundRect">
            <a:avLst>
              <a:gd fmla="val 13333" name="adj"/>
            </a:avLst>
          </a:prstGeom>
          <a:solidFill>
            <a:srgbClr val="2563EB"/>
          </a:solidFill>
          <a:ln>
            <a:noFill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5"/>
          <p:cNvSpPr/>
          <p:nvPr/>
        </p:nvSpPr>
        <p:spPr>
          <a:xfrm>
            <a:off x="3886200" y="36576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</a:pPr>
            <a:r>
              <a:rPr b="0" i="0" lang="en-GB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365760" y="1901952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4200"/>
              <a:buFont typeface="Calibri"/>
              <a:buNone/>
            </a:pPr>
            <a:r>
              <a:rPr b="1" i="0" lang="en-GB" sz="4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ComplianceAI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365760" y="263347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600"/>
              <a:buFont typeface="Calibri"/>
              <a:buNone/>
            </a:pPr>
            <a:r>
              <a:rPr b="0" i="1" lang="en-GB" sz="16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BIS Standards Intelligence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2560320" y="3154680"/>
            <a:ext cx="4023360" cy="1234440"/>
          </a:xfrm>
          <a:prstGeom prst="rect">
            <a:avLst/>
          </a:prstGeom>
          <a:solidFill>
            <a:srgbClr val="1E2638"/>
          </a:solidFill>
          <a:ln cap="flat" cmpd="sng" w="12700">
            <a:solidFill>
              <a:srgbClr val="2563E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5"/>
          <p:cNvSpPr/>
          <p:nvPr/>
        </p:nvSpPr>
        <p:spPr>
          <a:xfrm>
            <a:off x="2743200" y="3264408"/>
            <a:ext cx="640080" cy="64008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2743200" y="326440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KJ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3493008" y="324612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Kandukuri Jaswanth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3493008" y="356616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📞 8096656189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3493008" y="382219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🏛 Founder — GYaaNa SAroVar (GYSV)</a:t>
            </a:r>
            <a:endParaRPr b="0" i="0" sz="1000" u="none" cap="none" strike="noStrike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000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2560320" y="416052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BIS × Sigma Squad AI Hackathon  ·  May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Reducing 8 weeks of compliance research to 2 seconds — for every MSE in India.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